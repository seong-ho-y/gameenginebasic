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7dd63f88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97dd63f8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d095374c2_2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각 효과에 대한 설명명</a:t>
            </a:r>
            <a:endParaRPr/>
          </a:p>
        </p:txBody>
      </p:sp>
      <p:sp>
        <p:nvSpPr>
          <p:cNvPr id="137" name="Google Shape;137;g39d095374c2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d095374c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9d095374c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d095374c2_2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9d095374c2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d095374c2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각 효과에 대한 설명명</a:t>
            </a:r>
            <a:endParaRPr/>
          </a:p>
        </p:txBody>
      </p:sp>
      <p:sp>
        <p:nvSpPr>
          <p:cNvPr id="167" name="Google Shape;167;g39d095374c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d095374c2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각 효과에 대한 설명</a:t>
            </a:r>
            <a:endParaRPr/>
          </a:p>
        </p:txBody>
      </p:sp>
      <p:sp>
        <p:nvSpPr>
          <p:cNvPr id="178" name="Google Shape;178;g39d095374c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d095374c2_2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각 효과에 대한 설명</a:t>
            </a:r>
            <a:endParaRPr/>
          </a:p>
        </p:txBody>
      </p:sp>
      <p:sp>
        <p:nvSpPr>
          <p:cNvPr id="189" name="Google Shape;189;g39d095374c2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d095374c2_2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9d095374c2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d2518a7c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9d2518a7c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d2518a7c0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9d2518a7c0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d2518a7c0_0_2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9d2518a7c0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d2518a7c0_0_3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9d2518a7c0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d2518a7c0_0_3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9d2518a7c0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d2518a7c0_0_4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g39d2518a7c0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l="-2" r="-126" b="11074"/>
          <a:stretch/>
        </p:blipFill>
        <p:spPr>
          <a:xfrm>
            <a:off x="0" y="978674"/>
            <a:ext cx="4724400" cy="550718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2419004" y="1721372"/>
            <a:ext cx="9391993" cy="208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2419004" y="3801546"/>
            <a:ext cx="9391993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05050"/>
              </a:buClr>
              <a:buSzPts val="2400"/>
              <a:buNone/>
              <a:defRPr sz="2400">
                <a:solidFill>
                  <a:srgbClr val="50505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>
  <p:cSld name="캡션 있는 콘텐츠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1" y="0"/>
            <a:ext cx="3075709" cy="6485856"/>
          </a:xfrm>
          <a:prstGeom prst="rect">
            <a:avLst/>
          </a:prstGeom>
          <a:solidFill>
            <a:srgbClr val="B5B5B5">
              <a:alpha val="89803"/>
            </a:srgbClr>
          </a:solidFill>
          <a:ln w="12700" cap="flat" cmpd="sng">
            <a:solidFill>
              <a:srgbClr val="B5B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-1" y="482183"/>
            <a:ext cx="2984270" cy="110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3215641" y="482183"/>
            <a:ext cx="8447116" cy="5644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1282"/>
          <a:stretch/>
        </p:blipFill>
        <p:spPr>
          <a:xfrm>
            <a:off x="630216" y="2574803"/>
            <a:ext cx="2112984" cy="391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24502" y="1298833"/>
            <a:ext cx="5267498" cy="518702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472440" y="1528763"/>
            <a:ext cx="1124712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72440" y="4408488"/>
            <a:ext cx="1124712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17171"/>
              </a:buClr>
              <a:buSzPts val="2200"/>
              <a:buNone/>
              <a:defRPr sz="2200">
                <a:solidFill>
                  <a:srgbClr val="71717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 기본">
  <p:cSld name="콘텐츠 2개 기본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72440" y="941832"/>
            <a:ext cx="5547360" cy="53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b="0"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72200" y="941832"/>
            <a:ext cx="5547360" cy="53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472440" y="2490583"/>
            <a:ext cx="11247120" cy="124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472440" y="941831"/>
            <a:ext cx="11247120" cy="535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 기본">
  <p:cSld name="비교 기본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472440" y="941831"/>
            <a:ext cx="5525135" cy="509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472440" y="1451679"/>
            <a:ext cx="5525135" cy="487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6175376" y="941831"/>
            <a:ext cx="5544184" cy="50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6172199" y="1451679"/>
            <a:ext cx="5544183" cy="487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 VSCode">
  <p:cSld name="구역 머리글 VSCode">
    <p:bg>
      <p:bgPr>
        <a:solidFill>
          <a:srgbClr val="1F1F1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472440" y="1528763"/>
            <a:ext cx="1124712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472440" y="4408488"/>
            <a:ext cx="1124712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6537" y="797099"/>
            <a:ext cx="2612695" cy="239859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코드 VSCode">
  <p:cSld name="코드 VSCode">
    <p:bg>
      <p:bgPr>
        <a:solidFill>
          <a:srgbClr val="1F1F1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472440" y="941831"/>
            <a:ext cx="11247120" cy="535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코드 JetBrain">
  <p:cSld name="코드 JetBrain">
    <p:bg>
      <p:bgPr>
        <a:solidFill>
          <a:srgbClr val="1E1F2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472440" y="941831"/>
            <a:ext cx="11247120" cy="535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 JetBrain">
  <p:cSld name="구역 머리글 JetBrain">
    <p:bg>
      <p:bgPr>
        <a:solidFill>
          <a:srgbClr val="1E1F2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6537" y="797099"/>
            <a:ext cx="2612695" cy="239859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472440" y="1528763"/>
            <a:ext cx="1124712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>
            <a:off x="472440" y="4408488"/>
            <a:ext cx="1124712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 JetBrain">
  <p:cSld name="콘텐츠 2개 JetBrain">
    <p:bg>
      <p:bgPr>
        <a:solidFill>
          <a:srgbClr val="1E1F2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472440" y="941832"/>
            <a:ext cx="5547360" cy="53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b="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2"/>
          </p:nvPr>
        </p:nvSpPr>
        <p:spPr>
          <a:xfrm>
            <a:off x="6172200" y="941832"/>
            <a:ext cx="5547360" cy="53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 VSCode">
  <p:cSld name="콘텐츠 2개 VSCode">
    <p:bg>
      <p:bgPr>
        <a:solidFill>
          <a:srgbClr val="1F1F1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472440" y="941832"/>
            <a:ext cx="5547360" cy="53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b="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2"/>
          </p:nvPr>
        </p:nvSpPr>
        <p:spPr>
          <a:xfrm>
            <a:off x="6172200" y="941832"/>
            <a:ext cx="5547360" cy="53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 JetBrain">
  <p:cSld name="비교 JetBrain">
    <p:bg>
      <p:bgPr>
        <a:solidFill>
          <a:srgbClr val="1E1F2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472440" y="941831"/>
            <a:ext cx="5525135" cy="509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2"/>
          </p:nvPr>
        </p:nvSpPr>
        <p:spPr>
          <a:xfrm>
            <a:off x="472440" y="1451679"/>
            <a:ext cx="5525135" cy="487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3"/>
          </p:nvPr>
        </p:nvSpPr>
        <p:spPr>
          <a:xfrm>
            <a:off x="6175376" y="941831"/>
            <a:ext cx="5544184" cy="50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4"/>
          </p:nvPr>
        </p:nvSpPr>
        <p:spPr>
          <a:xfrm>
            <a:off x="6172199" y="1451679"/>
            <a:ext cx="5544183" cy="487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 VSCode">
  <p:cSld name="비교 VSCode">
    <p:bg>
      <p:bgPr>
        <a:solidFill>
          <a:srgbClr val="1F1F1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12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 amt="50000"/>
          </a:blip>
          <a:srcRect r="4686" b="4527"/>
          <a:stretch/>
        </p:blipFill>
        <p:spPr>
          <a:xfrm>
            <a:off x="9692641" y="3982291"/>
            <a:ext cx="2499360" cy="25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472440" y="941831"/>
            <a:ext cx="5525135" cy="509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2"/>
          </p:nvPr>
        </p:nvSpPr>
        <p:spPr>
          <a:xfrm>
            <a:off x="472440" y="1451679"/>
            <a:ext cx="5525135" cy="487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3"/>
          </p:nvPr>
        </p:nvSpPr>
        <p:spPr>
          <a:xfrm>
            <a:off x="6175376" y="941831"/>
            <a:ext cx="5544184" cy="50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4"/>
          </p:nvPr>
        </p:nvSpPr>
        <p:spPr>
          <a:xfrm>
            <a:off x="6172199" y="1451679"/>
            <a:ext cx="5544183" cy="487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290308"/>
            <a:ext cx="10515600" cy="124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75080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6489358"/>
            <a:ext cx="12192000" cy="368641"/>
          </a:xfrm>
          <a:prstGeom prst="rect">
            <a:avLst/>
          </a:prstGeom>
          <a:solidFill>
            <a:srgbClr val="0D326F">
              <a:alpha val="9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38200" y="6534440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534440"/>
            <a:ext cx="2743200" cy="2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ctrTitle"/>
          </p:nvPr>
        </p:nvSpPr>
        <p:spPr>
          <a:xfrm>
            <a:off x="5612950" y="2643200"/>
            <a:ext cx="6198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ko-KR"/>
              <a:t>게임엔진기초 3조 중간발표</a:t>
            </a:r>
            <a:endParaRPr sz="420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1"/>
          </p:nvPr>
        </p:nvSpPr>
        <p:spPr>
          <a:xfrm>
            <a:off x="1644242" y="3801546"/>
            <a:ext cx="101667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2400"/>
              <a:buNone/>
            </a:pPr>
            <a:r>
              <a:rPr lang="ko-KR"/>
              <a:t>Project_SpaceShooter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05050"/>
              </a:buClr>
              <a:buSzPts val="2400"/>
              <a:buNone/>
            </a:pP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326F"/>
              </a:buClr>
              <a:buSzPts val="2000"/>
              <a:buNone/>
            </a:pPr>
            <a:r>
              <a:rPr lang="ko-KR" sz="2000">
                <a:solidFill>
                  <a:srgbClr val="0D326F"/>
                </a:solidFill>
              </a:rPr>
              <a:t>3조: 장원준 유성호 김건우 신상용 남성유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05050"/>
              </a:buClr>
              <a:buSzPts val="2400"/>
              <a:buNone/>
            </a:pPr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3215641" y="268448"/>
            <a:ext cx="8447100" cy="5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228600" lvl="0" indent="-2476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ko-KR" sz="2500"/>
              <a:t>Development Setting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228600" lvl="0" indent="-2476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ko-KR" sz="2500"/>
              <a:t>Game Design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228600" lvl="0" indent="-2476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ko-KR" sz="2500"/>
              <a:t>Technology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228600" lvl="0" indent="-2476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ko-KR" sz="2500"/>
              <a:t>Future Plan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131" name="Google Shape;131;p18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/>
              <a:t>2025-10-27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3276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800" b="1"/>
              <a:t>Table Contents</a:t>
            </a:r>
            <a:endParaRPr sz="2800" b="1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800" b="1"/>
          </a:p>
        </p:txBody>
      </p:sp>
      <p:sp>
        <p:nvSpPr>
          <p:cNvPr id="134" name="Google Shape;134;p18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505050"/>
                </a:solidFill>
              </a:rPr>
              <a:t>Project_SpaceShooter / 3조</a:t>
            </a:r>
            <a:endParaRPr sz="2400" b="1">
              <a:solidFill>
                <a:srgbClr val="505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472460" y="941825"/>
            <a:ext cx="11127600" cy="5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2400"/>
              <a:t>Using Engine - UE 5.4.4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2400"/>
              <a:t>Using Version Control System - Github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2400"/>
              <a:t>Using Collaboration Platform - Discord</a:t>
            </a:r>
            <a:endParaRPr sz="2400"/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Development Settings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25" y="4384250"/>
            <a:ext cx="2743200" cy="125536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2425" y="1649362"/>
            <a:ext cx="5347626" cy="39902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0850" y="4384250"/>
            <a:ext cx="1695005" cy="12553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p19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505050"/>
                </a:solidFill>
              </a:rPr>
              <a:t>Project_SpaceShooter / 3조</a:t>
            </a:r>
            <a:endParaRPr sz="2400" b="1">
              <a:solidFill>
                <a:srgbClr val="505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body" idx="1"/>
          </p:nvPr>
        </p:nvSpPr>
        <p:spPr>
          <a:xfrm>
            <a:off x="472458" y="941825"/>
            <a:ext cx="10090200" cy="5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ko-KR" sz="2500" b="1"/>
              <a:t>IDEA</a:t>
            </a:r>
            <a:br>
              <a:rPr lang="ko-KR"/>
            </a:br>
            <a:r>
              <a:rPr lang="ko-KR" sz="2400"/>
              <a:t>Shooting + Tactic…!!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ko-KR" sz="2500" b="1"/>
              <a:t>TARGET USER</a:t>
            </a:r>
            <a:br>
              <a:rPr lang="ko-KR"/>
            </a:br>
            <a:r>
              <a:rPr lang="ko-KR" sz="2400"/>
              <a:t>Player who interested in Tactic_Shooter genre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ko-KR" sz="2500" b="1"/>
              <a:t>CORE CONCEPT</a:t>
            </a:r>
            <a:br>
              <a:rPr lang="ko-KR"/>
            </a:br>
            <a:r>
              <a:rPr lang="ko-KR" sz="2400"/>
              <a:t>- Environment Combat System</a:t>
            </a:r>
            <a:endParaRPr sz="2400"/>
          </a:p>
        </p:txBody>
      </p:sp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 b="1"/>
              <a:t>GAME DESIGN</a:t>
            </a:r>
            <a:endParaRPr b="1"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505050"/>
                </a:solidFill>
              </a:rPr>
              <a:t>Project_SpaceShooter / 3조</a:t>
            </a:r>
            <a:endParaRPr sz="2400" b="1">
              <a:solidFill>
                <a:srgbClr val="505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0" y="1"/>
            <a:ext cx="43680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800" b="1"/>
              <a:t>Environment </a:t>
            </a:r>
            <a:br>
              <a:rPr lang="ko-KR" sz="2800" b="1"/>
            </a:br>
            <a:r>
              <a:rPr lang="ko-KR" sz="2800" b="1"/>
              <a:t>Combat System</a:t>
            </a:r>
            <a:endParaRPr sz="2800" b="1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800" b="1"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>
            <a:off x="3215641" y="268448"/>
            <a:ext cx="8447100" cy="5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228600" lvl="0" indent="-2476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ko-KR" sz="2500"/>
              <a:t>Asteroid Belt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228600" lvl="0" indent="-2476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ko-KR" sz="2500"/>
              <a:t>Magnetic Storm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228600" lvl="0" indent="-2476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ko-KR" sz="2500"/>
              <a:t>Blackhole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162" name="Google Shape;162;p21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/>
              <a:t>2025-10-27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505050"/>
                </a:solidFill>
              </a:rPr>
              <a:t>Project_SpaceShooter / 3조</a:t>
            </a:r>
            <a:endParaRPr sz="2400" b="1">
              <a:solidFill>
                <a:srgbClr val="505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body" idx="1"/>
          </p:nvPr>
        </p:nvSpPr>
        <p:spPr>
          <a:xfrm>
            <a:off x="472460" y="941825"/>
            <a:ext cx="11127600" cy="5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2400"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A space where many rocks, metals, and ice fragments float</a:t>
            </a:r>
            <a:endParaRPr sz="2400"/>
          </a:p>
        </p:txBody>
      </p:sp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Asteroid Belt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150" y="2792375"/>
            <a:ext cx="3963300" cy="33890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4" name="Google Shape;174;p22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505050"/>
                </a:solidFill>
              </a:rPr>
              <a:t>Project_SpaceShooter / 3조</a:t>
            </a:r>
            <a:endParaRPr sz="2400" b="1">
              <a:solidFill>
                <a:srgbClr val="505050"/>
              </a:solidFill>
            </a:endParaRPr>
          </a:p>
        </p:txBody>
      </p:sp>
      <p:pic>
        <p:nvPicPr>
          <p:cNvPr id="3" name="소행성대">
            <a:hlinkClick r:id="" action="ppaction://media"/>
            <a:extLst>
              <a:ext uri="{FF2B5EF4-FFF2-40B4-BE49-F238E27FC236}">
                <a16:creationId xmlns:a16="http://schemas.microsoft.com/office/drawing/2014/main" id="{5F9C746A-1E23-5E87-9EA3-DB2E59F25D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59291" y="2076682"/>
            <a:ext cx="4542454" cy="4104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Magnetic Storm</a:t>
            </a:r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472460" y="941825"/>
            <a:ext cx="11127600" cy="5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00"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A phenomenon in which the solar wind of the sun is radiated </a:t>
            </a:r>
            <a:br>
              <a:rPr lang="ko-KR" sz="2400"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</a:br>
            <a:r>
              <a:rPr lang="ko-KR" sz="2400"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    (based on the solar system)</a:t>
            </a:r>
            <a:endParaRPr sz="4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184" name="Google Shape;18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150" y="2792374"/>
            <a:ext cx="3963300" cy="33890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505050"/>
                </a:solidFill>
              </a:rPr>
              <a:t>Project_SpaceShooter / 3조</a:t>
            </a:r>
            <a:endParaRPr sz="2400" b="1">
              <a:solidFill>
                <a:srgbClr val="505050"/>
              </a:solidFill>
            </a:endParaRPr>
          </a:p>
        </p:txBody>
      </p:sp>
      <p:pic>
        <p:nvPicPr>
          <p:cNvPr id="2" name="자기장폭풍">
            <a:hlinkClick r:id="" action="ppaction://media"/>
            <a:extLst>
              <a:ext uri="{FF2B5EF4-FFF2-40B4-BE49-F238E27FC236}">
                <a16:creationId xmlns:a16="http://schemas.microsoft.com/office/drawing/2014/main" id="{F76FA1DA-1435-5B49-AC21-729276EC38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95940" y="2649366"/>
            <a:ext cx="4984173" cy="35951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>
            <a:spLocks noGrp="1"/>
          </p:cNvSpPr>
          <p:nvPr>
            <p:ph type="body" idx="1"/>
          </p:nvPr>
        </p:nvSpPr>
        <p:spPr>
          <a:xfrm>
            <a:off x="472460" y="941825"/>
            <a:ext cx="11002800" cy="5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00"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A celestial body whose gravity is so strong that no material information,</a:t>
            </a:r>
            <a:br>
              <a:rPr lang="ko-KR" sz="2400"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</a:br>
            <a:r>
              <a:rPr lang="ko-KR" sz="2400"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      including light, can escape</a:t>
            </a:r>
            <a:endParaRPr sz="2400"/>
          </a:p>
        </p:txBody>
      </p:sp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Blackhole</a:t>
            </a:r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sp>
        <p:nvSpPr>
          <p:cNvPr id="196" name="Google Shape;196;p24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505050"/>
                </a:solidFill>
              </a:rPr>
              <a:t>Project_SpaceShooter / 3조</a:t>
            </a:r>
            <a:endParaRPr sz="2400" b="1">
              <a:solidFill>
                <a:srgbClr val="505050"/>
              </a:solidFill>
            </a:endParaRPr>
          </a:p>
        </p:txBody>
      </p:sp>
      <p:pic>
        <p:nvPicPr>
          <p:cNvPr id="2" name="98mjEqBstiEOkx8bHG35Inq0mQNRsSD3Kp_IG_uRquWYwZUux1bY919-HO6U511si5ZKgGEUBLp9zjiBe7JsxQ">
            <a:hlinkClick r:id="" action="ppaction://media"/>
            <a:extLst>
              <a:ext uri="{FF2B5EF4-FFF2-40B4-BE49-F238E27FC236}">
                <a16:creationId xmlns:a16="http://schemas.microsoft.com/office/drawing/2014/main" id="{C248D648-84A5-5CF8-BA9C-0D9BD10031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22636" y="2929070"/>
            <a:ext cx="5637415" cy="32523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C11CA14-335D-3C5C-8F0E-482AB1F44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12" y="2792375"/>
            <a:ext cx="3963301" cy="3389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/>
              <a:t>Code UML</a:t>
            </a:r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472450" y="898050"/>
            <a:ext cx="3112500" cy="2993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581700" y="898050"/>
            <a:ext cx="96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Player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06" name="Google Shape;206;p25"/>
          <p:cNvCxnSpPr/>
          <p:nvPr/>
        </p:nvCxnSpPr>
        <p:spPr>
          <a:xfrm>
            <a:off x="581700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5"/>
          <p:cNvCxnSpPr/>
          <p:nvPr/>
        </p:nvCxnSpPr>
        <p:spPr>
          <a:xfrm>
            <a:off x="97902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5"/>
          <p:cNvCxnSpPr/>
          <p:nvPr/>
        </p:nvCxnSpPr>
        <p:spPr>
          <a:xfrm>
            <a:off x="1376350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5"/>
          <p:cNvCxnSpPr/>
          <p:nvPr/>
        </p:nvCxnSpPr>
        <p:spPr>
          <a:xfrm>
            <a:off x="178387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5"/>
          <p:cNvCxnSpPr/>
          <p:nvPr/>
        </p:nvCxnSpPr>
        <p:spPr>
          <a:xfrm>
            <a:off x="220162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5"/>
          <p:cNvCxnSpPr/>
          <p:nvPr/>
        </p:nvCxnSpPr>
        <p:spPr>
          <a:xfrm>
            <a:off x="261937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5"/>
          <p:cNvSpPr txBox="1"/>
          <p:nvPr/>
        </p:nvSpPr>
        <p:spPr>
          <a:xfrm>
            <a:off x="581700" y="1278125"/>
            <a:ext cx="31125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800">
                <a:solidFill>
                  <a:schemeClr val="dk1"/>
                </a:solidFill>
              </a:rPr>
              <a:t>UStaticMeshComp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USpringArmComp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UCameraComp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ShipMovement</a:t>
            </a:r>
            <a:br>
              <a:rPr lang="ko-KR" sz="1800">
                <a:solidFill>
                  <a:schemeClr val="dk1"/>
                </a:solidFill>
              </a:rPr>
            </a:b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UShooterComp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UHealthComp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ShieldComp-USphereComp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13" name="Google Shape;213;p25"/>
          <p:cNvCxnSpPr/>
          <p:nvPr/>
        </p:nvCxnSpPr>
        <p:spPr>
          <a:xfrm>
            <a:off x="304732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25"/>
          <p:cNvSpPr/>
          <p:nvPr/>
        </p:nvSpPr>
        <p:spPr>
          <a:xfrm>
            <a:off x="4657050" y="898050"/>
            <a:ext cx="3112500" cy="2993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4766300" y="898050"/>
            <a:ext cx="96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Enemy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16" name="Google Shape;216;p25"/>
          <p:cNvCxnSpPr/>
          <p:nvPr/>
        </p:nvCxnSpPr>
        <p:spPr>
          <a:xfrm>
            <a:off x="4766300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5"/>
          <p:cNvCxnSpPr/>
          <p:nvPr/>
        </p:nvCxnSpPr>
        <p:spPr>
          <a:xfrm>
            <a:off x="516362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5"/>
          <p:cNvCxnSpPr/>
          <p:nvPr/>
        </p:nvCxnSpPr>
        <p:spPr>
          <a:xfrm>
            <a:off x="5560950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5"/>
          <p:cNvCxnSpPr/>
          <p:nvPr/>
        </p:nvCxnSpPr>
        <p:spPr>
          <a:xfrm>
            <a:off x="596847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5"/>
          <p:cNvCxnSpPr/>
          <p:nvPr/>
        </p:nvCxnSpPr>
        <p:spPr>
          <a:xfrm>
            <a:off x="638622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5"/>
          <p:cNvCxnSpPr/>
          <p:nvPr/>
        </p:nvCxnSpPr>
        <p:spPr>
          <a:xfrm>
            <a:off x="680397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5"/>
          <p:cNvCxnSpPr/>
          <p:nvPr/>
        </p:nvCxnSpPr>
        <p:spPr>
          <a:xfrm>
            <a:off x="7231925" y="13597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5"/>
          <p:cNvSpPr txBox="1"/>
          <p:nvPr/>
        </p:nvSpPr>
        <p:spPr>
          <a:xfrm>
            <a:off x="4766300" y="1278125"/>
            <a:ext cx="31125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USphereComp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UStaticMeshComp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UFloatingPawnMove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AIController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UBlackboardComp</a:t>
            </a:r>
            <a:br>
              <a:rPr lang="ko-KR" sz="1800">
                <a:solidFill>
                  <a:schemeClr val="dk1"/>
                </a:solidFill>
              </a:rPr>
            </a:b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UShooterComp</a:t>
            </a:r>
            <a:br>
              <a:rPr lang="ko-KR" sz="1800">
                <a:solidFill>
                  <a:schemeClr val="dk1"/>
                </a:solidFill>
              </a:rPr>
            </a:br>
            <a:r>
              <a:rPr lang="ko-KR" sz="1800">
                <a:solidFill>
                  <a:schemeClr val="dk1"/>
                </a:solidFill>
              </a:rPr>
              <a:t>UHealthComp</a:t>
            </a:r>
            <a:br>
              <a:rPr lang="ko-K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1632050" y="4059888"/>
            <a:ext cx="255150" cy="418425"/>
          </a:xfrm>
          <a:custGeom>
            <a:avLst/>
            <a:gdLst/>
            <a:ahLst/>
            <a:cxnLst/>
            <a:rect l="l" t="t" r="r" b="b"/>
            <a:pathLst>
              <a:path w="10206" h="16737" extrusionOk="0">
                <a:moveTo>
                  <a:pt x="4899" y="0"/>
                </a:moveTo>
                <a:lnTo>
                  <a:pt x="0" y="8980"/>
                </a:lnTo>
                <a:lnTo>
                  <a:pt x="5307" y="16737"/>
                </a:lnTo>
                <a:lnTo>
                  <a:pt x="10206" y="8164"/>
                </a:lnTo>
                <a:close/>
              </a:path>
            </a:pathLst>
          </a:custGeom>
          <a:solidFill>
            <a:srgbClr val="505050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Google Shape;225;p25"/>
          <p:cNvSpPr/>
          <p:nvPr/>
        </p:nvSpPr>
        <p:spPr>
          <a:xfrm>
            <a:off x="1995550" y="4059838"/>
            <a:ext cx="1490700" cy="41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1943650" y="4022813"/>
            <a:ext cx="164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</a:rPr>
              <a:t>Composition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119500" y="4096988"/>
            <a:ext cx="255150" cy="418425"/>
          </a:xfrm>
          <a:custGeom>
            <a:avLst/>
            <a:gdLst/>
            <a:ahLst/>
            <a:cxnLst/>
            <a:rect l="l" t="t" r="r" b="b"/>
            <a:pathLst>
              <a:path w="10206" h="16737" extrusionOk="0">
                <a:moveTo>
                  <a:pt x="4899" y="0"/>
                </a:moveTo>
                <a:lnTo>
                  <a:pt x="0" y="8980"/>
                </a:lnTo>
                <a:lnTo>
                  <a:pt x="5307" y="16737"/>
                </a:lnTo>
                <a:lnTo>
                  <a:pt x="10206" y="8164"/>
                </a:lnTo>
                <a:close/>
              </a:path>
            </a:pathLst>
          </a:custGeom>
          <a:solidFill>
            <a:srgbClr val="505050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8" name="Google Shape;228;p25"/>
          <p:cNvSpPr/>
          <p:nvPr/>
        </p:nvSpPr>
        <p:spPr>
          <a:xfrm>
            <a:off x="5483000" y="4096950"/>
            <a:ext cx="1490700" cy="41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5431100" y="4059900"/>
            <a:ext cx="164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</a:rPr>
              <a:t>Composition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2497725" y="4647075"/>
            <a:ext cx="3282900" cy="1810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1" name="Google Shape;231;p25"/>
          <p:cNvCxnSpPr/>
          <p:nvPr/>
        </p:nvCxnSpPr>
        <p:spPr>
          <a:xfrm>
            <a:off x="2578925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5"/>
          <p:cNvCxnSpPr/>
          <p:nvPr/>
        </p:nvCxnSpPr>
        <p:spPr>
          <a:xfrm>
            <a:off x="3018250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5"/>
          <p:cNvCxnSpPr/>
          <p:nvPr/>
        </p:nvCxnSpPr>
        <p:spPr>
          <a:xfrm>
            <a:off x="3457575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5"/>
          <p:cNvCxnSpPr/>
          <p:nvPr/>
        </p:nvCxnSpPr>
        <p:spPr>
          <a:xfrm>
            <a:off x="3905925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5"/>
          <p:cNvCxnSpPr/>
          <p:nvPr/>
        </p:nvCxnSpPr>
        <p:spPr>
          <a:xfrm>
            <a:off x="4305825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5"/>
          <p:cNvCxnSpPr/>
          <p:nvPr/>
        </p:nvCxnSpPr>
        <p:spPr>
          <a:xfrm>
            <a:off x="4705725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5"/>
          <p:cNvCxnSpPr/>
          <p:nvPr/>
        </p:nvCxnSpPr>
        <p:spPr>
          <a:xfrm>
            <a:off x="5087275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5"/>
          <p:cNvCxnSpPr/>
          <p:nvPr/>
        </p:nvCxnSpPr>
        <p:spPr>
          <a:xfrm>
            <a:off x="5484600" y="50905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5"/>
          <p:cNvSpPr txBox="1"/>
          <p:nvPr/>
        </p:nvSpPr>
        <p:spPr>
          <a:xfrm>
            <a:off x="2497725" y="4647075"/>
            <a:ext cx="250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SharedComponents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2497725" y="5090525"/>
            <a:ext cx="3402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UHeathComp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UShooterComp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(via Projectile / Damage event)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1" name="Google Shape;241;p25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2"/>
                </a:solidFill>
              </a:rPr>
              <a:t>Project_SpaceShooter / 3조</a:t>
            </a:r>
            <a:endParaRPr sz="24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>
            <a:spLocks noGrp="1"/>
          </p:cNvSpPr>
          <p:nvPr>
            <p:ph type="title"/>
          </p:nvPr>
        </p:nvSpPr>
        <p:spPr>
          <a:xfrm>
            <a:off x="472445" y="0"/>
            <a:ext cx="58752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/>
              <a:t>Code UML</a:t>
            </a:r>
            <a:endParaRPr/>
          </a:p>
        </p:txBody>
      </p:sp>
      <p:sp>
        <p:nvSpPr>
          <p:cNvPr id="248" name="Google Shape;248;p26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1122400" y="877650"/>
            <a:ext cx="4590000" cy="1449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1120125" y="877650"/>
            <a:ext cx="191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UShooterComp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51" name="Google Shape;251;p26"/>
          <p:cNvCxnSpPr/>
          <p:nvPr/>
        </p:nvCxnSpPr>
        <p:spPr>
          <a:xfrm>
            <a:off x="1231650" y="13393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6"/>
          <p:cNvCxnSpPr/>
          <p:nvPr/>
        </p:nvCxnSpPr>
        <p:spPr>
          <a:xfrm>
            <a:off x="1628975" y="13393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6"/>
          <p:cNvCxnSpPr/>
          <p:nvPr/>
        </p:nvCxnSpPr>
        <p:spPr>
          <a:xfrm>
            <a:off x="2026300" y="13393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26"/>
          <p:cNvCxnSpPr/>
          <p:nvPr/>
        </p:nvCxnSpPr>
        <p:spPr>
          <a:xfrm>
            <a:off x="2433825" y="13393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26"/>
          <p:cNvCxnSpPr/>
          <p:nvPr/>
        </p:nvCxnSpPr>
        <p:spPr>
          <a:xfrm>
            <a:off x="2851575" y="13393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6"/>
          <p:cNvCxnSpPr/>
          <p:nvPr/>
        </p:nvCxnSpPr>
        <p:spPr>
          <a:xfrm>
            <a:off x="3269325" y="13393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6"/>
          <p:cNvSpPr txBox="1"/>
          <p:nvPr/>
        </p:nvSpPr>
        <p:spPr>
          <a:xfrm>
            <a:off x="1120125" y="1257725"/>
            <a:ext cx="4853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ProjectileClass - TSubClassOf&lt;AProjectile&gt;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FireRate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MuzzleLocation - USceneComp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58" name="Google Shape;258;p26"/>
          <p:cNvCxnSpPr/>
          <p:nvPr/>
        </p:nvCxnSpPr>
        <p:spPr>
          <a:xfrm>
            <a:off x="3697275" y="1339350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6"/>
          <p:cNvSpPr/>
          <p:nvPr/>
        </p:nvSpPr>
        <p:spPr>
          <a:xfrm>
            <a:off x="2899425" y="2817925"/>
            <a:ext cx="1530000" cy="41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2847525" y="2780875"/>
            <a:ext cx="166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</a:rPr>
              <a:t>Dependency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1631250" y="3480575"/>
            <a:ext cx="3435600" cy="1449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1628975" y="3480575"/>
            <a:ext cx="191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AProjectile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63" name="Google Shape;263;p26"/>
          <p:cNvCxnSpPr/>
          <p:nvPr/>
        </p:nvCxnSpPr>
        <p:spPr>
          <a:xfrm>
            <a:off x="1740500" y="39422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6"/>
          <p:cNvCxnSpPr/>
          <p:nvPr/>
        </p:nvCxnSpPr>
        <p:spPr>
          <a:xfrm>
            <a:off x="2137825" y="39422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6"/>
          <p:cNvCxnSpPr/>
          <p:nvPr/>
        </p:nvCxnSpPr>
        <p:spPr>
          <a:xfrm>
            <a:off x="2535150" y="39422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6"/>
          <p:cNvCxnSpPr/>
          <p:nvPr/>
        </p:nvCxnSpPr>
        <p:spPr>
          <a:xfrm>
            <a:off x="2942675" y="39422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6"/>
          <p:cNvCxnSpPr/>
          <p:nvPr/>
        </p:nvCxnSpPr>
        <p:spPr>
          <a:xfrm>
            <a:off x="3360425" y="39422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6"/>
          <p:cNvCxnSpPr/>
          <p:nvPr/>
        </p:nvCxnSpPr>
        <p:spPr>
          <a:xfrm>
            <a:off x="3778175" y="39422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9" name="Google Shape;269;p26"/>
          <p:cNvSpPr txBox="1"/>
          <p:nvPr/>
        </p:nvSpPr>
        <p:spPr>
          <a:xfrm>
            <a:off x="1628975" y="3860650"/>
            <a:ext cx="4853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CollisionComp - USphereComp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ProjectileMovement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Owner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70" name="Google Shape;270;p26"/>
          <p:cNvCxnSpPr/>
          <p:nvPr/>
        </p:nvCxnSpPr>
        <p:spPr>
          <a:xfrm>
            <a:off x="4206125" y="39422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Google Shape;271;p26"/>
          <p:cNvSpPr/>
          <p:nvPr/>
        </p:nvSpPr>
        <p:spPr>
          <a:xfrm>
            <a:off x="7980274" y="2091138"/>
            <a:ext cx="1429200" cy="41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928375" y="2054113"/>
            <a:ext cx="158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</a:rPr>
              <a:t>Association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6637150" y="2810888"/>
            <a:ext cx="3435600" cy="1449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6634875" y="2810888"/>
            <a:ext cx="191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UHealthComp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75" name="Google Shape;275;p26"/>
          <p:cNvCxnSpPr/>
          <p:nvPr/>
        </p:nvCxnSpPr>
        <p:spPr>
          <a:xfrm>
            <a:off x="7143725" y="3272588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6"/>
          <p:cNvCxnSpPr/>
          <p:nvPr/>
        </p:nvCxnSpPr>
        <p:spPr>
          <a:xfrm>
            <a:off x="7541050" y="3272588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6"/>
          <p:cNvCxnSpPr/>
          <p:nvPr/>
        </p:nvCxnSpPr>
        <p:spPr>
          <a:xfrm>
            <a:off x="7948575" y="3272588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6"/>
          <p:cNvCxnSpPr/>
          <p:nvPr/>
        </p:nvCxnSpPr>
        <p:spPr>
          <a:xfrm>
            <a:off x="8366325" y="3272588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6"/>
          <p:cNvCxnSpPr/>
          <p:nvPr/>
        </p:nvCxnSpPr>
        <p:spPr>
          <a:xfrm>
            <a:off x="8784075" y="3272588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26"/>
          <p:cNvSpPr txBox="1"/>
          <p:nvPr/>
        </p:nvSpPr>
        <p:spPr>
          <a:xfrm>
            <a:off x="6634875" y="3190963"/>
            <a:ext cx="3435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CurrentHealth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CurrentShield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</a:rPr>
              <a:t>OnHealthChanged - Delegate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81" name="Google Shape;281;p26"/>
          <p:cNvCxnSpPr/>
          <p:nvPr/>
        </p:nvCxnSpPr>
        <p:spPr>
          <a:xfrm>
            <a:off x="9212025" y="3272588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6"/>
          <p:cNvCxnSpPr/>
          <p:nvPr/>
        </p:nvCxnSpPr>
        <p:spPr>
          <a:xfrm rot="5400000">
            <a:off x="2300650" y="2640813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6"/>
          <p:cNvCxnSpPr/>
          <p:nvPr/>
        </p:nvCxnSpPr>
        <p:spPr>
          <a:xfrm rot="5400000">
            <a:off x="3147675" y="581062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26"/>
          <p:cNvSpPr/>
          <p:nvPr/>
        </p:nvSpPr>
        <p:spPr>
          <a:xfrm rot="10800000">
            <a:off x="2225050" y="2857813"/>
            <a:ext cx="447300" cy="338700"/>
          </a:xfrm>
          <a:prstGeom prst="triangle">
            <a:avLst>
              <a:gd name="adj" fmla="val 50000"/>
            </a:avLst>
          </a:prstGeom>
          <a:solidFill>
            <a:srgbClr val="71717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5" name="Google Shape;285;p26"/>
          <p:cNvCxnSpPr/>
          <p:nvPr/>
        </p:nvCxnSpPr>
        <p:spPr>
          <a:xfrm rot="5400000">
            <a:off x="3147675" y="53220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6"/>
          <p:cNvSpPr/>
          <p:nvPr/>
        </p:nvSpPr>
        <p:spPr>
          <a:xfrm rot="10800000">
            <a:off x="7386738" y="2131050"/>
            <a:ext cx="447300" cy="338700"/>
          </a:xfrm>
          <a:prstGeom prst="triangle">
            <a:avLst>
              <a:gd name="adj" fmla="val 50000"/>
            </a:avLst>
          </a:prstGeom>
          <a:solidFill>
            <a:srgbClr val="71717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7" name="Google Shape;287;p26"/>
          <p:cNvCxnSpPr/>
          <p:nvPr/>
        </p:nvCxnSpPr>
        <p:spPr>
          <a:xfrm rot="5400000">
            <a:off x="7461525" y="1983000"/>
            <a:ext cx="296100" cy="0"/>
          </a:xfrm>
          <a:prstGeom prst="straightConnector1">
            <a:avLst/>
          </a:prstGeom>
          <a:noFill/>
          <a:ln w="9525" cap="flat" cmpd="sng">
            <a:solidFill>
              <a:srgbClr val="71717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26"/>
          <p:cNvCxnSpPr/>
          <p:nvPr/>
        </p:nvCxnSpPr>
        <p:spPr>
          <a:xfrm rot="5400000">
            <a:off x="7462350" y="11300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6"/>
          <p:cNvCxnSpPr/>
          <p:nvPr/>
        </p:nvCxnSpPr>
        <p:spPr>
          <a:xfrm rot="5400000">
            <a:off x="7462350" y="600675"/>
            <a:ext cx="296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6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2"/>
                </a:solidFill>
              </a:rPr>
              <a:t>Project_SpaceShooter / 3조</a:t>
            </a:r>
            <a:endParaRPr sz="24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/>
              <a:t>Enemy BehaviorTree - FindingEnemy</a:t>
            </a:r>
            <a:endParaRPr/>
          </a:p>
        </p:txBody>
      </p:sp>
      <p:sp>
        <p:nvSpPr>
          <p:cNvPr id="297" name="Google Shape;297;p27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sp>
        <p:nvSpPr>
          <p:cNvPr id="298" name="Google Shape;298;p27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3173875" y="1053275"/>
            <a:ext cx="816300" cy="561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3173875" y="1072325"/>
            <a:ext cx="816300" cy="523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</a:rPr>
              <a:t>Root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3459475" y="1836950"/>
            <a:ext cx="214500" cy="449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1942825" y="2508425"/>
            <a:ext cx="3278400" cy="201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" name="Google Shape;303;p27"/>
          <p:cNvGrpSpPr/>
          <p:nvPr/>
        </p:nvGrpSpPr>
        <p:grpSpPr>
          <a:xfrm>
            <a:off x="2240100" y="2637575"/>
            <a:ext cx="1296000" cy="523200"/>
            <a:chOff x="581700" y="4913375"/>
            <a:chExt cx="1296000" cy="523200"/>
          </a:xfrm>
        </p:grpSpPr>
        <p:sp>
          <p:nvSpPr>
            <p:cNvPr id="304" name="Google Shape;304;p27"/>
            <p:cNvSpPr/>
            <p:nvPr/>
          </p:nvSpPr>
          <p:spPr>
            <a:xfrm>
              <a:off x="581700" y="4913375"/>
              <a:ext cx="12348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7"/>
            <p:cNvSpPr txBox="1"/>
            <p:nvPr/>
          </p:nvSpPr>
          <p:spPr>
            <a:xfrm>
              <a:off x="581700" y="4913375"/>
              <a:ext cx="1296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dk1"/>
                  </a:solidFill>
                </a:rPr>
                <a:t>Selector</a:t>
              </a:r>
              <a:endParaRPr sz="2200" b="1">
                <a:solidFill>
                  <a:schemeClr val="dk1"/>
                </a:solidFill>
              </a:endParaRPr>
            </a:p>
          </p:txBody>
        </p:sp>
      </p:grpSp>
      <p:grpSp>
        <p:nvGrpSpPr>
          <p:cNvPr id="306" name="Google Shape;306;p27"/>
          <p:cNvGrpSpPr/>
          <p:nvPr/>
        </p:nvGrpSpPr>
        <p:grpSpPr>
          <a:xfrm>
            <a:off x="2240088" y="3253775"/>
            <a:ext cx="1627686" cy="523200"/>
            <a:chOff x="561225" y="3167400"/>
            <a:chExt cx="1750200" cy="523200"/>
          </a:xfrm>
        </p:grpSpPr>
        <p:sp>
          <p:nvSpPr>
            <p:cNvPr id="307" name="Google Shape;307;p27"/>
            <p:cNvSpPr/>
            <p:nvPr/>
          </p:nvSpPr>
          <p:spPr>
            <a:xfrm>
              <a:off x="561225" y="3167400"/>
              <a:ext cx="154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7"/>
            <p:cNvSpPr txBox="1"/>
            <p:nvPr/>
          </p:nvSpPr>
          <p:spPr>
            <a:xfrm>
              <a:off x="561225" y="3167400"/>
              <a:ext cx="1750200" cy="5232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dk1"/>
                  </a:solidFill>
                </a:rPr>
                <a:t>FindPlayer</a:t>
              </a:r>
              <a:endParaRPr sz="2200" b="1">
                <a:solidFill>
                  <a:schemeClr val="dk1"/>
                </a:solidFill>
              </a:endParaRPr>
            </a:p>
          </p:txBody>
        </p:sp>
      </p:grpSp>
      <p:sp>
        <p:nvSpPr>
          <p:cNvPr id="309" name="Google Shape;309;p27"/>
          <p:cNvSpPr txBox="1"/>
          <p:nvPr/>
        </p:nvSpPr>
        <p:spPr>
          <a:xfrm>
            <a:off x="2240100" y="3869975"/>
            <a:ext cx="1066500" cy="52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dk1"/>
                </a:solidFill>
              </a:rPr>
              <a:t>Rotate</a:t>
            </a:r>
            <a:endParaRPr sz="2200" b="1">
              <a:solidFill>
                <a:schemeClr val="dk1"/>
              </a:solidFill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7622725" y="1053275"/>
            <a:ext cx="2179500" cy="561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7622725" y="1072325"/>
            <a:ext cx="2179500" cy="523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</a:rPr>
              <a:t>Blackboard Key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6823375" y="2194225"/>
            <a:ext cx="3778200" cy="358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0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13" name="Google Shape;313;p27"/>
          <p:cNvSpPr/>
          <p:nvPr/>
        </p:nvSpPr>
        <p:spPr>
          <a:xfrm>
            <a:off x="7175079" y="2570320"/>
            <a:ext cx="776100" cy="211500"/>
          </a:xfrm>
          <a:prstGeom prst="rect">
            <a:avLst/>
          </a:prstGeom>
          <a:solidFill>
            <a:schemeClr val="accent1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14" name="Google Shape;314;p27"/>
          <p:cNvSpPr/>
          <p:nvPr/>
        </p:nvSpPr>
        <p:spPr>
          <a:xfrm>
            <a:off x="7175079" y="3000146"/>
            <a:ext cx="776100" cy="211500"/>
          </a:xfrm>
          <a:prstGeom prst="rect">
            <a:avLst/>
          </a:prstGeom>
          <a:solidFill>
            <a:schemeClr val="accent1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15" name="Google Shape;315;p27"/>
          <p:cNvSpPr/>
          <p:nvPr/>
        </p:nvSpPr>
        <p:spPr>
          <a:xfrm>
            <a:off x="7175079" y="3408119"/>
            <a:ext cx="776100" cy="211500"/>
          </a:xfrm>
          <a:prstGeom prst="rect">
            <a:avLst/>
          </a:prstGeom>
          <a:solidFill>
            <a:srgbClr val="38761D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16" name="Google Shape;316;p27"/>
          <p:cNvSpPr/>
          <p:nvPr/>
        </p:nvSpPr>
        <p:spPr>
          <a:xfrm>
            <a:off x="7175079" y="3827012"/>
            <a:ext cx="776100" cy="211500"/>
          </a:xfrm>
          <a:prstGeom prst="rect">
            <a:avLst/>
          </a:prstGeom>
          <a:solidFill>
            <a:srgbClr val="38761D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17" name="Google Shape;317;p27"/>
          <p:cNvSpPr/>
          <p:nvPr/>
        </p:nvSpPr>
        <p:spPr>
          <a:xfrm>
            <a:off x="7175079" y="4240099"/>
            <a:ext cx="776100" cy="211500"/>
          </a:xfrm>
          <a:prstGeom prst="rect">
            <a:avLst/>
          </a:prstGeom>
          <a:solidFill>
            <a:srgbClr val="F1C232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18" name="Google Shape;318;p27"/>
          <p:cNvSpPr/>
          <p:nvPr/>
        </p:nvSpPr>
        <p:spPr>
          <a:xfrm>
            <a:off x="7175079" y="4653200"/>
            <a:ext cx="776100" cy="211500"/>
          </a:xfrm>
          <a:prstGeom prst="rect">
            <a:avLst/>
          </a:prstGeom>
          <a:solidFill>
            <a:srgbClr val="F1C232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19" name="Google Shape;319;p27"/>
          <p:cNvSpPr/>
          <p:nvPr/>
        </p:nvSpPr>
        <p:spPr>
          <a:xfrm>
            <a:off x="7175079" y="5066302"/>
            <a:ext cx="776100" cy="211500"/>
          </a:xfrm>
          <a:prstGeom prst="rect">
            <a:avLst/>
          </a:prstGeom>
          <a:solidFill>
            <a:srgbClr val="CC0000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320" name="Google Shape;320;p27"/>
          <p:cNvSpPr txBox="1"/>
          <p:nvPr/>
        </p:nvSpPr>
        <p:spPr>
          <a:xfrm>
            <a:off x="8174149" y="2431958"/>
            <a:ext cx="1682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SelfActor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8174149" y="2861783"/>
            <a:ext cx="1682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TargetActor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8174150" y="3271263"/>
            <a:ext cx="2573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Distance To Target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8174150" y="3688638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ThrottleValue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8174150" y="4110563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TargetLoc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8174150" y="4493100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StrafeVector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8174150" y="4912738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IsBoosting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2"/>
                </a:solidFill>
              </a:rPr>
              <a:t>Project_SpaceShooter / 3조</a:t>
            </a:r>
            <a:endParaRPr sz="24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/>
              <a:t>Enemy BehaviorTree - FindingEnemy</a:t>
            </a:r>
            <a:endParaRPr/>
          </a:p>
        </p:txBody>
      </p:sp>
      <p:sp>
        <p:nvSpPr>
          <p:cNvPr id="333" name="Google Shape;333;p28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335" name="Google Shape;335;p28"/>
          <p:cNvSpPr/>
          <p:nvPr/>
        </p:nvSpPr>
        <p:spPr>
          <a:xfrm>
            <a:off x="4456750" y="895975"/>
            <a:ext cx="3278400" cy="201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8"/>
          <p:cNvGrpSpPr/>
          <p:nvPr/>
        </p:nvGrpSpPr>
        <p:grpSpPr>
          <a:xfrm>
            <a:off x="4699575" y="1025125"/>
            <a:ext cx="1296000" cy="523200"/>
            <a:chOff x="581700" y="4913375"/>
            <a:chExt cx="1296000" cy="523200"/>
          </a:xfrm>
        </p:grpSpPr>
        <p:sp>
          <p:nvSpPr>
            <p:cNvPr id="337" name="Google Shape;337;p28"/>
            <p:cNvSpPr/>
            <p:nvPr/>
          </p:nvSpPr>
          <p:spPr>
            <a:xfrm>
              <a:off x="581700" y="4913375"/>
              <a:ext cx="12348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8"/>
            <p:cNvSpPr txBox="1"/>
            <p:nvPr/>
          </p:nvSpPr>
          <p:spPr>
            <a:xfrm>
              <a:off x="581700" y="4913375"/>
              <a:ext cx="1296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Selector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grpSp>
        <p:nvGrpSpPr>
          <p:cNvPr id="339" name="Google Shape;339;p28"/>
          <p:cNvGrpSpPr/>
          <p:nvPr/>
        </p:nvGrpSpPr>
        <p:grpSpPr>
          <a:xfrm>
            <a:off x="4699563" y="1641325"/>
            <a:ext cx="1627686" cy="523200"/>
            <a:chOff x="561225" y="3167400"/>
            <a:chExt cx="1750200" cy="523200"/>
          </a:xfrm>
        </p:grpSpPr>
        <p:sp>
          <p:nvSpPr>
            <p:cNvPr id="340" name="Google Shape;340;p28"/>
            <p:cNvSpPr/>
            <p:nvPr/>
          </p:nvSpPr>
          <p:spPr>
            <a:xfrm>
              <a:off x="561225" y="3167400"/>
              <a:ext cx="154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8"/>
            <p:cNvSpPr txBox="1"/>
            <p:nvPr/>
          </p:nvSpPr>
          <p:spPr>
            <a:xfrm>
              <a:off x="561225" y="3167400"/>
              <a:ext cx="1750200" cy="5232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FindPlayer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sp>
        <p:nvSpPr>
          <p:cNvPr id="342" name="Google Shape;342;p28"/>
          <p:cNvSpPr txBox="1"/>
          <p:nvPr/>
        </p:nvSpPr>
        <p:spPr>
          <a:xfrm>
            <a:off x="4699575" y="2257525"/>
            <a:ext cx="1066500" cy="52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Rotate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159625" y="3905875"/>
            <a:ext cx="2743200" cy="135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3196388" y="3905875"/>
            <a:ext cx="2743200" cy="135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6233150" y="3905875"/>
            <a:ext cx="2743200" cy="135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9269900" y="3905875"/>
            <a:ext cx="2743200" cy="135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7" name="Google Shape;347;p28"/>
          <p:cNvCxnSpPr/>
          <p:nvPr/>
        </p:nvCxnSpPr>
        <p:spPr>
          <a:xfrm flipH="1">
            <a:off x="2388025" y="2490100"/>
            <a:ext cx="1673700" cy="102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Google Shape;348;p28"/>
          <p:cNvCxnSpPr/>
          <p:nvPr/>
        </p:nvCxnSpPr>
        <p:spPr>
          <a:xfrm flipH="1">
            <a:off x="4806825" y="3102425"/>
            <a:ext cx="183600" cy="48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p28"/>
          <p:cNvCxnSpPr/>
          <p:nvPr/>
        </p:nvCxnSpPr>
        <p:spPr>
          <a:xfrm>
            <a:off x="6980475" y="3071825"/>
            <a:ext cx="204000" cy="51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" name="Google Shape;350;p28"/>
          <p:cNvCxnSpPr/>
          <p:nvPr/>
        </p:nvCxnSpPr>
        <p:spPr>
          <a:xfrm>
            <a:off x="7949975" y="2500325"/>
            <a:ext cx="2408400" cy="114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51" name="Google Shape;351;p28"/>
          <p:cNvGrpSpPr/>
          <p:nvPr/>
        </p:nvGrpSpPr>
        <p:grpSpPr>
          <a:xfrm>
            <a:off x="269750" y="4677950"/>
            <a:ext cx="1516200" cy="523200"/>
            <a:chOff x="581700" y="4913375"/>
            <a:chExt cx="1516200" cy="523200"/>
          </a:xfrm>
        </p:grpSpPr>
        <p:sp>
          <p:nvSpPr>
            <p:cNvPr id="352" name="Google Shape;352;p28"/>
            <p:cNvSpPr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Sequence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grpSp>
        <p:nvGrpSpPr>
          <p:cNvPr id="354" name="Google Shape;354;p28"/>
          <p:cNvGrpSpPr/>
          <p:nvPr/>
        </p:nvGrpSpPr>
        <p:grpSpPr>
          <a:xfrm>
            <a:off x="6383200" y="4677950"/>
            <a:ext cx="1516200" cy="523200"/>
            <a:chOff x="581700" y="4913375"/>
            <a:chExt cx="1516200" cy="523200"/>
          </a:xfrm>
        </p:grpSpPr>
        <p:sp>
          <p:nvSpPr>
            <p:cNvPr id="355" name="Google Shape;355;p28"/>
            <p:cNvSpPr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8"/>
            <p:cNvSpPr txBox="1"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Sequence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grpSp>
        <p:nvGrpSpPr>
          <p:cNvPr id="357" name="Google Shape;357;p28"/>
          <p:cNvGrpSpPr/>
          <p:nvPr/>
        </p:nvGrpSpPr>
        <p:grpSpPr>
          <a:xfrm>
            <a:off x="9458950" y="4677950"/>
            <a:ext cx="1516200" cy="523200"/>
            <a:chOff x="581700" y="4913375"/>
            <a:chExt cx="1516200" cy="523200"/>
          </a:xfrm>
        </p:grpSpPr>
        <p:sp>
          <p:nvSpPr>
            <p:cNvPr id="358" name="Google Shape;358;p28"/>
            <p:cNvSpPr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8"/>
            <p:cNvSpPr txBox="1"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Sequence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grpSp>
        <p:nvGrpSpPr>
          <p:cNvPr id="360" name="Google Shape;360;p28"/>
          <p:cNvGrpSpPr/>
          <p:nvPr/>
        </p:nvGrpSpPr>
        <p:grpSpPr>
          <a:xfrm>
            <a:off x="269725" y="4007675"/>
            <a:ext cx="1842724" cy="570275"/>
            <a:chOff x="581697" y="4866300"/>
            <a:chExt cx="1079700" cy="570275"/>
          </a:xfrm>
        </p:grpSpPr>
        <p:sp>
          <p:nvSpPr>
            <p:cNvPr id="361" name="Google Shape;361;p28"/>
            <p:cNvSpPr/>
            <p:nvPr/>
          </p:nvSpPr>
          <p:spPr>
            <a:xfrm>
              <a:off x="581698" y="4913375"/>
              <a:ext cx="1014000" cy="523200"/>
            </a:xfrm>
            <a:prstGeom prst="rect">
              <a:avLst/>
            </a:prstGeom>
            <a:solidFill>
              <a:srgbClr val="0B539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8"/>
            <p:cNvSpPr txBox="1"/>
            <p:nvPr/>
          </p:nvSpPr>
          <p:spPr>
            <a:xfrm>
              <a:off x="581697" y="4866300"/>
              <a:ext cx="1079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BlackBoard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sp>
        <p:nvSpPr>
          <p:cNvPr id="363" name="Google Shape;363;p28"/>
          <p:cNvSpPr/>
          <p:nvPr/>
        </p:nvSpPr>
        <p:spPr>
          <a:xfrm>
            <a:off x="6383202" y="4054750"/>
            <a:ext cx="1730700" cy="523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6327250" y="4054750"/>
            <a:ext cx="1842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BlackBoard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9458952" y="4054750"/>
            <a:ext cx="1730700" cy="523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9403000" y="4054750"/>
            <a:ext cx="1842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BlackBoard</a:t>
            </a:r>
            <a:endParaRPr sz="2200" b="1">
              <a:solidFill>
                <a:schemeClr val="lt1"/>
              </a:solidFill>
            </a:endParaRPr>
          </a:p>
        </p:txBody>
      </p:sp>
      <p:grpSp>
        <p:nvGrpSpPr>
          <p:cNvPr id="367" name="Google Shape;367;p28"/>
          <p:cNvGrpSpPr/>
          <p:nvPr/>
        </p:nvGrpSpPr>
        <p:grpSpPr>
          <a:xfrm>
            <a:off x="3326475" y="4677950"/>
            <a:ext cx="1516200" cy="523200"/>
            <a:chOff x="581700" y="4913375"/>
            <a:chExt cx="1516200" cy="523200"/>
          </a:xfrm>
        </p:grpSpPr>
        <p:sp>
          <p:nvSpPr>
            <p:cNvPr id="368" name="Google Shape;368;p28"/>
            <p:cNvSpPr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8"/>
            <p:cNvSpPr txBox="1"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Sequence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sp>
        <p:nvSpPr>
          <p:cNvPr id="370" name="Google Shape;370;p28"/>
          <p:cNvSpPr txBox="1"/>
          <p:nvPr/>
        </p:nvSpPr>
        <p:spPr>
          <a:xfrm>
            <a:off x="3298550" y="4007675"/>
            <a:ext cx="1842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dk1"/>
                </a:solidFill>
              </a:rPr>
              <a:t>BlackBoard</a:t>
            </a:r>
            <a:endParaRPr sz="2200" b="1">
              <a:solidFill>
                <a:schemeClr val="dk1"/>
              </a:solidFill>
            </a:endParaRPr>
          </a:p>
        </p:txBody>
      </p:sp>
      <p:grpSp>
        <p:nvGrpSpPr>
          <p:cNvPr id="371" name="Google Shape;371;p28"/>
          <p:cNvGrpSpPr/>
          <p:nvPr/>
        </p:nvGrpSpPr>
        <p:grpSpPr>
          <a:xfrm>
            <a:off x="3326475" y="4031200"/>
            <a:ext cx="1842724" cy="570275"/>
            <a:chOff x="581697" y="4866300"/>
            <a:chExt cx="1079700" cy="570275"/>
          </a:xfrm>
        </p:grpSpPr>
        <p:sp>
          <p:nvSpPr>
            <p:cNvPr id="372" name="Google Shape;372;p28"/>
            <p:cNvSpPr/>
            <p:nvPr/>
          </p:nvSpPr>
          <p:spPr>
            <a:xfrm>
              <a:off x="581698" y="4913375"/>
              <a:ext cx="1014000" cy="523200"/>
            </a:xfrm>
            <a:prstGeom prst="rect">
              <a:avLst/>
            </a:prstGeom>
            <a:solidFill>
              <a:srgbClr val="0B539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8"/>
            <p:cNvSpPr txBox="1"/>
            <p:nvPr/>
          </p:nvSpPr>
          <p:spPr>
            <a:xfrm>
              <a:off x="581697" y="4866300"/>
              <a:ext cx="1079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BlackBoard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sp>
        <p:nvSpPr>
          <p:cNvPr id="374" name="Google Shape;374;p28"/>
          <p:cNvSpPr txBox="1"/>
          <p:nvPr/>
        </p:nvSpPr>
        <p:spPr>
          <a:xfrm>
            <a:off x="6161500" y="5635313"/>
            <a:ext cx="18426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Set Throttle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9192725" y="5607950"/>
            <a:ext cx="18426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Set Throttle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8059025" y="5635313"/>
            <a:ext cx="10008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Shoot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77" name="Google Shape;377;p28"/>
          <p:cNvSpPr txBox="1"/>
          <p:nvPr/>
        </p:nvSpPr>
        <p:spPr>
          <a:xfrm>
            <a:off x="11089475" y="5607950"/>
            <a:ext cx="10008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Shoot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3298550" y="5651038"/>
            <a:ext cx="18426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Set Throttle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269788" y="5606188"/>
            <a:ext cx="18426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Set Throttle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2"/>
                </a:solidFill>
              </a:rPr>
              <a:t>Project_SpaceShooter / 3조</a:t>
            </a:r>
            <a:endParaRPr sz="24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/>
              <a:t>Enemy BehaviorTree - HoveringEnemy</a:t>
            </a:r>
            <a:endParaRPr/>
          </a:p>
        </p:txBody>
      </p:sp>
      <p:sp>
        <p:nvSpPr>
          <p:cNvPr id="386" name="Google Shape;386;p29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sp>
        <p:nvSpPr>
          <p:cNvPr id="387" name="Google Shape;387;p29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388" name="Google Shape;388;p29"/>
          <p:cNvSpPr/>
          <p:nvPr/>
        </p:nvSpPr>
        <p:spPr>
          <a:xfrm>
            <a:off x="3173875" y="1053275"/>
            <a:ext cx="816300" cy="561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9"/>
          <p:cNvSpPr txBox="1"/>
          <p:nvPr/>
        </p:nvSpPr>
        <p:spPr>
          <a:xfrm>
            <a:off x="3173875" y="1072325"/>
            <a:ext cx="816300" cy="523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</a:rPr>
              <a:t>Root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3459475" y="1836950"/>
            <a:ext cx="214500" cy="449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1942825" y="2508425"/>
            <a:ext cx="3278400" cy="201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2" name="Google Shape;392;p29"/>
          <p:cNvGrpSpPr/>
          <p:nvPr/>
        </p:nvGrpSpPr>
        <p:grpSpPr>
          <a:xfrm>
            <a:off x="2240100" y="2637575"/>
            <a:ext cx="1296000" cy="523200"/>
            <a:chOff x="581700" y="4913375"/>
            <a:chExt cx="1296000" cy="523200"/>
          </a:xfrm>
        </p:grpSpPr>
        <p:sp>
          <p:nvSpPr>
            <p:cNvPr id="393" name="Google Shape;393;p29"/>
            <p:cNvSpPr/>
            <p:nvPr/>
          </p:nvSpPr>
          <p:spPr>
            <a:xfrm>
              <a:off x="581700" y="4913375"/>
              <a:ext cx="12348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9"/>
            <p:cNvSpPr txBox="1"/>
            <p:nvPr/>
          </p:nvSpPr>
          <p:spPr>
            <a:xfrm>
              <a:off x="581700" y="4913375"/>
              <a:ext cx="1296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dk1"/>
                  </a:solidFill>
                </a:rPr>
                <a:t>Selector</a:t>
              </a:r>
              <a:endParaRPr sz="2200" b="1">
                <a:solidFill>
                  <a:schemeClr val="dk1"/>
                </a:solidFill>
              </a:endParaRPr>
            </a:p>
          </p:txBody>
        </p:sp>
      </p:grpSp>
      <p:grpSp>
        <p:nvGrpSpPr>
          <p:cNvPr id="395" name="Google Shape;395;p29"/>
          <p:cNvGrpSpPr/>
          <p:nvPr/>
        </p:nvGrpSpPr>
        <p:grpSpPr>
          <a:xfrm>
            <a:off x="2240088" y="3253775"/>
            <a:ext cx="1627686" cy="523200"/>
            <a:chOff x="561225" y="3167400"/>
            <a:chExt cx="1750200" cy="523200"/>
          </a:xfrm>
        </p:grpSpPr>
        <p:sp>
          <p:nvSpPr>
            <p:cNvPr id="396" name="Google Shape;396;p29"/>
            <p:cNvSpPr/>
            <p:nvPr/>
          </p:nvSpPr>
          <p:spPr>
            <a:xfrm>
              <a:off x="561225" y="3167400"/>
              <a:ext cx="154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9"/>
            <p:cNvSpPr txBox="1"/>
            <p:nvPr/>
          </p:nvSpPr>
          <p:spPr>
            <a:xfrm>
              <a:off x="561225" y="3167400"/>
              <a:ext cx="1750200" cy="5232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dk1"/>
                  </a:solidFill>
                </a:rPr>
                <a:t>FindPlayer</a:t>
              </a:r>
              <a:endParaRPr sz="2200" b="1">
                <a:solidFill>
                  <a:schemeClr val="dk1"/>
                </a:solidFill>
              </a:endParaRPr>
            </a:p>
          </p:txBody>
        </p:sp>
      </p:grpSp>
      <p:sp>
        <p:nvSpPr>
          <p:cNvPr id="398" name="Google Shape;398;p29"/>
          <p:cNvSpPr txBox="1"/>
          <p:nvPr/>
        </p:nvSpPr>
        <p:spPr>
          <a:xfrm>
            <a:off x="2240100" y="3869975"/>
            <a:ext cx="1066500" cy="52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dk1"/>
                </a:solidFill>
              </a:rPr>
              <a:t>Rotate</a:t>
            </a:r>
            <a:endParaRPr sz="2200" b="1">
              <a:solidFill>
                <a:schemeClr val="dk1"/>
              </a:solidFill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7622725" y="1053275"/>
            <a:ext cx="2179500" cy="561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7622725" y="1072325"/>
            <a:ext cx="2179500" cy="523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</a:rPr>
              <a:t>Blackboard Key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6823375" y="2194225"/>
            <a:ext cx="3778200" cy="358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0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2" name="Google Shape;402;p29"/>
          <p:cNvSpPr/>
          <p:nvPr/>
        </p:nvSpPr>
        <p:spPr>
          <a:xfrm>
            <a:off x="7175079" y="2570320"/>
            <a:ext cx="776100" cy="211500"/>
          </a:xfrm>
          <a:prstGeom prst="rect">
            <a:avLst/>
          </a:prstGeom>
          <a:solidFill>
            <a:schemeClr val="accent1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3" name="Google Shape;403;p29"/>
          <p:cNvSpPr/>
          <p:nvPr/>
        </p:nvSpPr>
        <p:spPr>
          <a:xfrm>
            <a:off x="7175079" y="3000146"/>
            <a:ext cx="776100" cy="211500"/>
          </a:xfrm>
          <a:prstGeom prst="rect">
            <a:avLst/>
          </a:prstGeom>
          <a:solidFill>
            <a:schemeClr val="accent1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4" name="Google Shape;404;p29"/>
          <p:cNvSpPr/>
          <p:nvPr/>
        </p:nvSpPr>
        <p:spPr>
          <a:xfrm>
            <a:off x="7175079" y="3408119"/>
            <a:ext cx="776100" cy="211500"/>
          </a:xfrm>
          <a:prstGeom prst="rect">
            <a:avLst/>
          </a:prstGeom>
          <a:solidFill>
            <a:srgbClr val="38761D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5" name="Google Shape;405;p29"/>
          <p:cNvSpPr/>
          <p:nvPr/>
        </p:nvSpPr>
        <p:spPr>
          <a:xfrm>
            <a:off x="7175079" y="3827012"/>
            <a:ext cx="776100" cy="211500"/>
          </a:xfrm>
          <a:prstGeom prst="rect">
            <a:avLst/>
          </a:prstGeom>
          <a:solidFill>
            <a:srgbClr val="38761D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6" name="Google Shape;406;p29"/>
          <p:cNvSpPr/>
          <p:nvPr/>
        </p:nvSpPr>
        <p:spPr>
          <a:xfrm>
            <a:off x="7175079" y="4240099"/>
            <a:ext cx="776100" cy="211500"/>
          </a:xfrm>
          <a:prstGeom prst="rect">
            <a:avLst/>
          </a:prstGeom>
          <a:solidFill>
            <a:srgbClr val="F1C232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7" name="Google Shape;407;p29"/>
          <p:cNvSpPr/>
          <p:nvPr/>
        </p:nvSpPr>
        <p:spPr>
          <a:xfrm>
            <a:off x="7175079" y="4653200"/>
            <a:ext cx="776100" cy="211500"/>
          </a:xfrm>
          <a:prstGeom prst="rect">
            <a:avLst/>
          </a:prstGeom>
          <a:solidFill>
            <a:srgbClr val="F1C232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8" name="Google Shape;408;p29"/>
          <p:cNvSpPr/>
          <p:nvPr/>
        </p:nvSpPr>
        <p:spPr>
          <a:xfrm>
            <a:off x="7175079" y="5066302"/>
            <a:ext cx="776100" cy="211500"/>
          </a:xfrm>
          <a:prstGeom prst="rect">
            <a:avLst/>
          </a:prstGeom>
          <a:solidFill>
            <a:srgbClr val="CC0000"/>
          </a:solidFill>
          <a:ln w="329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5375" tIns="105375" rIns="105375" bIns="105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13"/>
          </a:p>
        </p:txBody>
      </p:sp>
      <p:sp>
        <p:nvSpPr>
          <p:cNvPr id="409" name="Google Shape;409;p29"/>
          <p:cNvSpPr txBox="1"/>
          <p:nvPr/>
        </p:nvSpPr>
        <p:spPr>
          <a:xfrm>
            <a:off x="8174149" y="2431958"/>
            <a:ext cx="1682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SelfActor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410" name="Google Shape;410;p29"/>
          <p:cNvSpPr txBox="1"/>
          <p:nvPr/>
        </p:nvSpPr>
        <p:spPr>
          <a:xfrm>
            <a:off x="8174149" y="2861783"/>
            <a:ext cx="1682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TargetActor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411" name="Google Shape;411;p29"/>
          <p:cNvSpPr txBox="1"/>
          <p:nvPr/>
        </p:nvSpPr>
        <p:spPr>
          <a:xfrm>
            <a:off x="8174150" y="3271263"/>
            <a:ext cx="2573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Distance To Target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412" name="Google Shape;412;p29"/>
          <p:cNvSpPr txBox="1"/>
          <p:nvPr/>
        </p:nvSpPr>
        <p:spPr>
          <a:xfrm>
            <a:off x="8174150" y="3688638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ThrottleValue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413" name="Google Shape;413;p29"/>
          <p:cNvSpPr txBox="1"/>
          <p:nvPr/>
        </p:nvSpPr>
        <p:spPr>
          <a:xfrm>
            <a:off x="8174150" y="4110563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TargetLoc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8174150" y="4493100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StrafeVector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415" name="Google Shape;415;p29"/>
          <p:cNvSpPr txBox="1"/>
          <p:nvPr/>
        </p:nvSpPr>
        <p:spPr>
          <a:xfrm>
            <a:off x="8174150" y="4912738"/>
            <a:ext cx="1900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375" tIns="105375" rIns="105375" bIns="105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IsBoosting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416" name="Google Shape;416;p29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2"/>
                </a:solidFill>
              </a:rPr>
              <a:t>Project_SpaceShooter / 3조</a:t>
            </a:r>
            <a:endParaRPr sz="24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>
            <a:spLocks noGrp="1"/>
          </p:cNvSpPr>
          <p:nvPr>
            <p:ph type="title"/>
          </p:nvPr>
        </p:nvSpPr>
        <p:spPr>
          <a:xfrm>
            <a:off x="472440" y="0"/>
            <a:ext cx="112470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/>
              <a:t>Enemy BehaviorTree - Hovering</a:t>
            </a:r>
            <a:endParaRPr/>
          </a:p>
        </p:txBody>
      </p:sp>
      <p:sp>
        <p:nvSpPr>
          <p:cNvPr id="422" name="Google Shape;422;p30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sp>
        <p:nvSpPr>
          <p:cNvPr id="423" name="Google Shape;423;p30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424" name="Google Shape;424;p30"/>
          <p:cNvSpPr/>
          <p:nvPr/>
        </p:nvSpPr>
        <p:spPr>
          <a:xfrm>
            <a:off x="1048150" y="1436850"/>
            <a:ext cx="3278400" cy="201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5" name="Google Shape;425;p30"/>
          <p:cNvGrpSpPr/>
          <p:nvPr/>
        </p:nvGrpSpPr>
        <p:grpSpPr>
          <a:xfrm>
            <a:off x="1280775" y="1566000"/>
            <a:ext cx="1296000" cy="523200"/>
            <a:chOff x="581700" y="4913375"/>
            <a:chExt cx="1296000" cy="523200"/>
          </a:xfrm>
        </p:grpSpPr>
        <p:sp>
          <p:nvSpPr>
            <p:cNvPr id="426" name="Google Shape;426;p30"/>
            <p:cNvSpPr/>
            <p:nvPr/>
          </p:nvSpPr>
          <p:spPr>
            <a:xfrm>
              <a:off x="581700" y="4913375"/>
              <a:ext cx="12348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/>
            <p:cNvSpPr txBox="1"/>
            <p:nvPr/>
          </p:nvSpPr>
          <p:spPr>
            <a:xfrm>
              <a:off x="581700" y="4913375"/>
              <a:ext cx="1296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Selector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grpSp>
        <p:nvGrpSpPr>
          <p:cNvPr id="428" name="Google Shape;428;p30"/>
          <p:cNvGrpSpPr/>
          <p:nvPr/>
        </p:nvGrpSpPr>
        <p:grpSpPr>
          <a:xfrm>
            <a:off x="1280763" y="2182200"/>
            <a:ext cx="1627686" cy="523200"/>
            <a:chOff x="561225" y="3167400"/>
            <a:chExt cx="1750200" cy="523200"/>
          </a:xfrm>
        </p:grpSpPr>
        <p:sp>
          <p:nvSpPr>
            <p:cNvPr id="429" name="Google Shape;429;p30"/>
            <p:cNvSpPr/>
            <p:nvPr/>
          </p:nvSpPr>
          <p:spPr>
            <a:xfrm>
              <a:off x="561225" y="3167400"/>
              <a:ext cx="154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/>
            <p:cNvSpPr txBox="1"/>
            <p:nvPr/>
          </p:nvSpPr>
          <p:spPr>
            <a:xfrm>
              <a:off x="561225" y="3167400"/>
              <a:ext cx="1750200" cy="5232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FindPlayer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sp>
        <p:nvSpPr>
          <p:cNvPr id="431" name="Google Shape;431;p30"/>
          <p:cNvSpPr txBox="1"/>
          <p:nvPr/>
        </p:nvSpPr>
        <p:spPr>
          <a:xfrm>
            <a:off x="1280775" y="2798400"/>
            <a:ext cx="1066500" cy="52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Rotate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1092525" y="4063688"/>
            <a:ext cx="1672500" cy="725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3" name="Google Shape;433;p30"/>
          <p:cNvGrpSpPr/>
          <p:nvPr/>
        </p:nvGrpSpPr>
        <p:grpSpPr>
          <a:xfrm>
            <a:off x="1156975" y="4164638"/>
            <a:ext cx="1516200" cy="523200"/>
            <a:chOff x="581700" y="4913375"/>
            <a:chExt cx="1516200" cy="523200"/>
          </a:xfrm>
        </p:grpSpPr>
        <p:sp>
          <p:nvSpPr>
            <p:cNvPr id="434" name="Google Shape;434;p30"/>
            <p:cNvSpPr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 txBox="1"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Sequence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sp>
        <p:nvSpPr>
          <p:cNvPr id="436" name="Google Shape;436;p30"/>
          <p:cNvSpPr txBox="1"/>
          <p:nvPr/>
        </p:nvSpPr>
        <p:spPr>
          <a:xfrm>
            <a:off x="533675" y="5295650"/>
            <a:ext cx="10008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Shoot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437" name="Google Shape;437;p30"/>
          <p:cNvSpPr txBox="1"/>
          <p:nvPr/>
        </p:nvSpPr>
        <p:spPr>
          <a:xfrm>
            <a:off x="5849875" y="5118825"/>
            <a:ext cx="14061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Hovering</a:t>
            </a:r>
            <a:endParaRPr sz="2200" b="1">
              <a:solidFill>
                <a:schemeClr val="lt1"/>
              </a:solidFill>
            </a:endParaRPr>
          </a:p>
        </p:txBody>
      </p:sp>
      <p:cxnSp>
        <p:nvCxnSpPr>
          <p:cNvPr id="438" name="Google Shape;438;p30"/>
          <p:cNvCxnSpPr/>
          <p:nvPr/>
        </p:nvCxnSpPr>
        <p:spPr>
          <a:xfrm flipH="1">
            <a:off x="1775725" y="3551450"/>
            <a:ext cx="10200" cy="34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9" name="Google Shape;439;p30"/>
          <p:cNvCxnSpPr/>
          <p:nvPr/>
        </p:nvCxnSpPr>
        <p:spPr>
          <a:xfrm flipH="1">
            <a:off x="1207550" y="4878125"/>
            <a:ext cx="200100" cy="32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30"/>
          <p:cNvSpPr/>
          <p:nvPr/>
        </p:nvSpPr>
        <p:spPr>
          <a:xfrm>
            <a:off x="3444825" y="4063688"/>
            <a:ext cx="1672500" cy="725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30"/>
          <p:cNvGrpSpPr/>
          <p:nvPr/>
        </p:nvGrpSpPr>
        <p:grpSpPr>
          <a:xfrm>
            <a:off x="3509275" y="4164638"/>
            <a:ext cx="1516200" cy="523200"/>
            <a:chOff x="581700" y="4913375"/>
            <a:chExt cx="1516200" cy="523200"/>
          </a:xfrm>
        </p:grpSpPr>
        <p:sp>
          <p:nvSpPr>
            <p:cNvPr id="442" name="Google Shape;442;p30"/>
            <p:cNvSpPr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 txBox="1"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Sequence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cxnSp>
        <p:nvCxnSpPr>
          <p:cNvPr id="444" name="Google Shape;444;p30"/>
          <p:cNvCxnSpPr>
            <a:endCxn id="440" idx="1"/>
          </p:cNvCxnSpPr>
          <p:nvPr/>
        </p:nvCxnSpPr>
        <p:spPr>
          <a:xfrm>
            <a:off x="2765025" y="4426238"/>
            <a:ext cx="679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" name="Google Shape;445;p30"/>
          <p:cNvCxnSpPr/>
          <p:nvPr/>
        </p:nvCxnSpPr>
        <p:spPr>
          <a:xfrm>
            <a:off x="5225125" y="4867950"/>
            <a:ext cx="408300" cy="29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0"/>
          <p:cNvCxnSpPr/>
          <p:nvPr/>
        </p:nvCxnSpPr>
        <p:spPr>
          <a:xfrm rot="10800000" flipH="1">
            <a:off x="5194525" y="2092175"/>
            <a:ext cx="1041000" cy="186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p30"/>
          <p:cNvSpPr/>
          <p:nvPr/>
        </p:nvSpPr>
        <p:spPr>
          <a:xfrm>
            <a:off x="6464950" y="1287175"/>
            <a:ext cx="2311800" cy="725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8" name="Google Shape;448;p30"/>
          <p:cNvGrpSpPr/>
          <p:nvPr/>
        </p:nvGrpSpPr>
        <p:grpSpPr>
          <a:xfrm>
            <a:off x="6529450" y="1388125"/>
            <a:ext cx="2196216" cy="523200"/>
            <a:chOff x="581700" y="4913375"/>
            <a:chExt cx="1516200" cy="523200"/>
          </a:xfrm>
        </p:grpSpPr>
        <p:sp>
          <p:nvSpPr>
            <p:cNvPr id="449" name="Google Shape;449;p30"/>
            <p:cNvSpPr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solidFill>
              <a:srgbClr val="71717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 txBox="1"/>
            <p:nvPr/>
          </p:nvSpPr>
          <p:spPr>
            <a:xfrm>
              <a:off x="581700" y="4913375"/>
              <a:ext cx="15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chemeClr val="lt1"/>
                  </a:solidFill>
                </a:rPr>
                <a:t>Simple Parallel</a:t>
              </a:r>
              <a:endParaRPr sz="2200" b="1">
                <a:solidFill>
                  <a:schemeClr val="lt1"/>
                </a:solidFill>
              </a:endParaRPr>
            </a:p>
          </p:txBody>
        </p:sp>
      </p:grpSp>
      <p:sp>
        <p:nvSpPr>
          <p:cNvPr id="451" name="Google Shape;451;p30"/>
          <p:cNvSpPr txBox="1"/>
          <p:nvPr/>
        </p:nvSpPr>
        <p:spPr>
          <a:xfrm>
            <a:off x="6713313" y="2845675"/>
            <a:ext cx="7911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Wait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8512900" y="2845675"/>
            <a:ext cx="1000800" cy="52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>
                <a:solidFill>
                  <a:schemeClr val="lt1"/>
                </a:solidFill>
              </a:rPr>
              <a:t>Shoot</a:t>
            </a:r>
            <a:endParaRPr sz="2200" b="1">
              <a:solidFill>
                <a:schemeClr val="lt1"/>
              </a:solidFill>
            </a:endParaRPr>
          </a:p>
        </p:txBody>
      </p:sp>
      <p:cxnSp>
        <p:nvCxnSpPr>
          <p:cNvPr id="453" name="Google Shape;453;p30"/>
          <p:cNvCxnSpPr/>
          <p:nvPr/>
        </p:nvCxnSpPr>
        <p:spPr>
          <a:xfrm flipH="1">
            <a:off x="7205075" y="2229925"/>
            <a:ext cx="244800" cy="39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" name="Google Shape;454;p30"/>
          <p:cNvCxnSpPr/>
          <p:nvPr/>
        </p:nvCxnSpPr>
        <p:spPr>
          <a:xfrm>
            <a:off x="8653550" y="2244750"/>
            <a:ext cx="244800" cy="39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5" name="Google Shape;455;p30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2"/>
                </a:solidFill>
              </a:rPr>
              <a:t>Project_SpaceShooter / 3조</a:t>
            </a:r>
            <a:endParaRPr sz="24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"/>
          <p:cNvSpPr txBox="1">
            <a:spLocks noGrp="1"/>
          </p:cNvSpPr>
          <p:nvPr>
            <p:ph type="sldNum" idx="12"/>
          </p:nvPr>
        </p:nvSpPr>
        <p:spPr>
          <a:xfrm>
            <a:off x="8976362" y="6537957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sp>
        <p:nvSpPr>
          <p:cNvPr id="461" name="Google Shape;461;p31"/>
          <p:cNvSpPr txBox="1">
            <a:spLocks noGrp="1"/>
          </p:cNvSpPr>
          <p:nvPr>
            <p:ph type="dt" idx="10"/>
          </p:nvPr>
        </p:nvSpPr>
        <p:spPr>
          <a:xfrm>
            <a:off x="472440" y="6534439"/>
            <a:ext cx="2743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2025-10-27</a:t>
            </a:r>
            <a:endParaRPr/>
          </a:p>
        </p:txBody>
      </p:sp>
      <p:sp>
        <p:nvSpPr>
          <p:cNvPr id="462" name="Google Shape;462;p31"/>
          <p:cNvSpPr txBox="1">
            <a:spLocks noGrp="1"/>
          </p:cNvSpPr>
          <p:nvPr>
            <p:ph type="title"/>
          </p:nvPr>
        </p:nvSpPr>
        <p:spPr>
          <a:xfrm>
            <a:off x="472440" y="2490583"/>
            <a:ext cx="11247000" cy="1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ko-KR"/>
              <a:t>감사합니다</a:t>
            </a:r>
            <a:endParaRPr/>
          </a:p>
        </p:txBody>
      </p:sp>
      <p:sp>
        <p:nvSpPr>
          <p:cNvPr id="463" name="Google Shape;463;p31"/>
          <p:cNvSpPr txBox="1"/>
          <p:nvPr/>
        </p:nvSpPr>
        <p:spPr>
          <a:xfrm>
            <a:off x="7328575" y="131050"/>
            <a:ext cx="4630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lt2"/>
                </a:solidFill>
              </a:rPr>
              <a:t>Project_SpaceShooter / 3조</a:t>
            </a:r>
            <a:endParaRPr sz="24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416</Words>
  <Application>Microsoft Office PowerPoint</Application>
  <PresentationFormat>와이드스크린</PresentationFormat>
  <Paragraphs>179</Paragraphs>
  <Slides>15</Slides>
  <Notes>15</Notes>
  <HiddenSlides>0</HiddenSlides>
  <MMClips>3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Microsoft Yahei</vt:lpstr>
      <vt:lpstr>Malgun Gothic</vt:lpstr>
      <vt:lpstr>Arial</vt:lpstr>
      <vt:lpstr>Office 테마</vt:lpstr>
      <vt:lpstr>게임엔진기초 3조 중간발표</vt:lpstr>
      <vt:lpstr>Table Contents </vt:lpstr>
      <vt:lpstr>Development Settings</vt:lpstr>
      <vt:lpstr>GAME DESIGN</vt:lpstr>
      <vt:lpstr>Environment  Combat System </vt:lpstr>
      <vt:lpstr>Asteroid Belt</vt:lpstr>
      <vt:lpstr>Magnetic Storm</vt:lpstr>
      <vt:lpstr>Blackhole</vt:lpstr>
      <vt:lpstr>Code UML</vt:lpstr>
      <vt:lpstr>Code UML</vt:lpstr>
      <vt:lpstr>Enemy BehaviorTree - FindingEnemy</vt:lpstr>
      <vt:lpstr>Enemy BehaviorTree - FindingEnemy</vt:lpstr>
      <vt:lpstr>Enemy BehaviorTree - HoveringEnemy</vt:lpstr>
      <vt:lpstr>Enemy BehaviorTree - Hovering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장원준</cp:lastModifiedBy>
  <cp:revision>7</cp:revision>
  <dcterms:modified xsi:type="dcterms:W3CDTF">2025-10-26T03:43:10Z</dcterms:modified>
</cp:coreProperties>
</file>